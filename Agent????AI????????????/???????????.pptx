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3c04d6022343cd" /><Relationship Type="http://schemas.openxmlformats.org/officeDocument/2006/relationships/extended-properties" Target="/docProps/app.xml" Id="R8020868c6a514d40" /><Relationship Type="http://schemas.openxmlformats.org/officeDocument/2006/relationships/officeDocument" Target="/ppt/presentation.xml" Id="Rbfc21ced9b984b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e3e9c658ae44f1"/>
  </p:sldMasterIdLst>
  <p:notesMasterIdLst>
    <p:notesMasterId xmlns:r="http://schemas.openxmlformats.org/officeDocument/2006/relationships" r:id="Rf0d91e165e8448c4"/>
  </p:notesMasterIdLst>
  <p:sldIdLst>
    <p:sldId xmlns:r="http://schemas.openxmlformats.org/officeDocument/2006/relationships" id="256" r:id="R7cb758cd67f54400"/>
    <p:sldId xmlns:r="http://schemas.openxmlformats.org/officeDocument/2006/relationships" id="257" r:id="Re1cb165564f146c4"/>
    <p:sldId xmlns:r="http://schemas.openxmlformats.org/officeDocument/2006/relationships" id="258" r:id="R2ec23d6e1b8e4dcb"/>
    <p:sldId xmlns:r="http://schemas.openxmlformats.org/officeDocument/2006/relationships" id="259" r:id="Rbece24f6e9594b3d"/>
    <p:sldId xmlns:r="http://schemas.openxmlformats.org/officeDocument/2006/relationships" id="260" r:id="Rb744e8ea0fa042eb"/>
    <p:sldId xmlns:r="http://schemas.openxmlformats.org/officeDocument/2006/relationships" id="261" r:id="R2b1824e4058447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11f371b43f46f5" /><Relationship Type="http://schemas.openxmlformats.org/officeDocument/2006/relationships/slideMaster" Target="/ppt/slideMasters/slideMaster1.xml" Id="R62e3e9c658ae44f1" /><Relationship Type="http://schemas.openxmlformats.org/officeDocument/2006/relationships/notesMaster" Target="/ppt/notesMasters/notesMaster1.xml" Id="Rf0d91e165e8448c4" /><Relationship Type="http://schemas.openxmlformats.org/officeDocument/2006/relationships/presProps" Target="/ppt/presProps.xml" Id="R2d98269548744b49" /><Relationship Type="http://schemas.openxmlformats.org/officeDocument/2006/relationships/tableStyles" Target="/ppt/tableStyles.xml" Id="Rb247531f95274973" /><Relationship Type="http://schemas.openxmlformats.org/officeDocument/2006/relationships/slide" Target="/ppt/slides/slide1.xml" Id="R7cb758cd67f54400" /><Relationship Type="http://schemas.openxmlformats.org/officeDocument/2006/relationships/slide" Target="/ppt/slides/slide2.xml" Id="Re1cb165564f146c4" /><Relationship Type="http://schemas.openxmlformats.org/officeDocument/2006/relationships/slide" Target="/ppt/slides/slide3.xml" Id="R2ec23d6e1b8e4dcb" /><Relationship Type="http://schemas.openxmlformats.org/officeDocument/2006/relationships/slide" Target="/ppt/slides/slide4.xml" Id="Rbece24f6e9594b3d" /><Relationship Type="http://schemas.openxmlformats.org/officeDocument/2006/relationships/slide" Target="/ppt/slides/slide5.xml" Id="Rb744e8ea0fa042eb" /><Relationship Type="http://schemas.openxmlformats.org/officeDocument/2006/relationships/slide" Target="/ppt/slides/slide6.xml" Id="R2b1824e4058447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3d33c4bed646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 UI"/>
        <a:ea typeface=""/>
        <a:cs typeface=""/>
      </a:majorFont>
      <a:minorFont>
        <a:latin typeface="Microsoft YaHei U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efd6d2769b444d" /><Relationship Type="http://schemas.openxmlformats.org/officeDocument/2006/relationships/notesMaster" Target="/ppt/notesMasters/notesMaster1.xml" Id="R113f680e618849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dd80bc546f486b" /><Relationship Type="http://schemas.openxmlformats.org/officeDocument/2006/relationships/notesMaster" Target="/ppt/notesMasters/notesMaster1.xml" Id="R5169dff8ed5549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b9108887aa4140" /><Relationship Type="http://schemas.openxmlformats.org/officeDocument/2006/relationships/notesMaster" Target="/ppt/notesMasters/notesMaster1.xml" Id="R1af320c5f27245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4bcd87d9f6406a" /><Relationship Type="http://schemas.openxmlformats.org/officeDocument/2006/relationships/notesMaster" Target="/ppt/notesMasters/notesMaster1.xml" Id="Rf22338792bd64b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4854248f6d4fb2" /><Relationship Type="http://schemas.openxmlformats.org/officeDocument/2006/relationships/notesMaster" Target="/ppt/notesMasters/notesMaster1.xml" Id="Redf8996456e143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d45a21ef6c4d22" /><Relationship Type="http://schemas.openxmlformats.org/officeDocument/2006/relationships/notesMaster" Target="/ppt/notesMasters/notesMaster1.xml" Id="R6a2830b30c0641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ea7f179d76454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09631843fe41e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cd16b3c7194d6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a85a270bca42d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f9e4bba3f64d5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45a0d690df45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5BAB5E-A4E7-4070-A5D0-F334C21D5A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CFF7B4E-BBA3-4C50-9675-58874EC0E3C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6BCE539-28D2-43ED-857F-E38BFD84BE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702972-12FF-451E-BA08-6623C6F10B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E74C854-BDB0-41F3-8AE9-C901970E37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E6B6636-4205-4F3D-8FAB-7E6510FEB4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9FA024C-A0EB-41E8-8C3B-541B9D67AA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FF0C551-E3C5-4AB7-8D22-83090FEDED9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E3E0E2-F117-4FEB-9D8B-B7AEB8E8AD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DCFFAD7-B249-4EE8-A46C-5253682FE9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d04f303f72475b" /><Relationship Type="http://schemas.openxmlformats.org/officeDocument/2006/relationships/slideLayout" Target="/ppt/slideLayouts/slideLayout1.xml" Id="Re6de2d06698448a0" /><Relationship Type="http://schemas.openxmlformats.org/officeDocument/2006/relationships/slideLayout" Target="/ppt/slideLayouts/slideLayout2.xml" Id="R35b102af12254ca1" /><Relationship Type="http://schemas.openxmlformats.org/officeDocument/2006/relationships/slideLayout" Target="/ppt/slideLayouts/slideLayout3.xml" Id="Rbe73e113c6944ece" /><Relationship Type="http://schemas.openxmlformats.org/officeDocument/2006/relationships/slideLayout" Target="/ppt/slideLayouts/slideLayout4.xml" Id="R6b42d21e609b4268" /><Relationship Type="http://schemas.openxmlformats.org/officeDocument/2006/relationships/slideLayout" Target="/ppt/slideLayouts/slideLayout5.xml" Id="Rd9ad364814a74b4b" /><Relationship Type="http://schemas.openxmlformats.org/officeDocument/2006/relationships/slideLayout" Target="/ppt/slideLayouts/slideLayout6.xml" Id="Rad3cf6865ee241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de2d06698448a0"/>
    <p:sldLayoutId xmlns:r="http://schemas.openxmlformats.org/officeDocument/2006/relationships" id="2147483650" r:id="R35b102af12254ca1"/>
    <p:sldLayoutId xmlns:r="http://schemas.openxmlformats.org/officeDocument/2006/relationships" id="2147483651" r:id="Rbe73e113c6944ece"/>
    <p:sldLayoutId xmlns:r="http://schemas.openxmlformats.org/officeDocument/2006/relationships" id="2147483652" r:id="R6b42d21e609b4268"/>
    <p:sldLayoutId xmlns:r="http://schemas.openxmlformats.org/officeDocument/2006/relationships" id="2147483653" r:id="Rd9ad364814a74b4b"/>
    <p:sldLayoutId xmlns:r="http://schemas.openxmlformats.org/officeDocument/2006/relationships" id="2147483654" r:id="Rad3cf6865ee241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 UI"/>
        <a:ea typeface=""/>
        <a:cs typeface=""/>
      </a:majorFont>
      <a:minorFont>
        <a:latin typeface="Microsoft YaHei U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efaffc0c0849f8" /><Relationship Type="http://schemas.openxmlformats.org/officeDocument/2006/relationships/notesSlide" Target="/ppt/notesSlides/notesSlide1.xml" Id="R4847614ff9b246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043ab574c84958" /><Relationship Type="http://schemas.openxmlformats.org/officeDocument/2006/relationships/notesSlide" Target="/ppt/notesSlides/notesSlide2.xml" Id="R0737496a622345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8610e50e744a54" /><Relationship Type="http://schemas.openxmlformats.org/officeDocument/2006/relationships/notesSlide" Target="/ppt/notesSlides/notesSlide3.xml" Id="Rb444eb4384df46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53459dd8b14528" /><Relationship Type="http://schemas.openxmlformats.org/officeDocument/2006/relationships/notesSlide" Target="/ppt/notesSlides/notesSlide4.xml" Id="Rc88c86b5809445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0d48e7ff2e494a" /><Relationship Type="http://schemas.openxmlformats.org/officeDocument/2006/relationships/notesSlide" Target="/ppt/notesSlides/notesSlide5.xml" Id="R6d1009fabc3f47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696451bbeb401d" /><Relationship Type="http://schemas.openxmlformats.org/officeDocument/2006/relationships/notesSlide" Target="/ppt/notesSlides/notesSlide6.xml" Id="R33b84c2ff91e4e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B16A0-1BE5-4C13-9439-A79DC0A4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D86D38"/>
                </a:solidFill>
                <a:latin typeface="Bahnschrift Condensed"/>
                <a:ea typeface="Bahnschrift Condensed"/>
                <a:cs typeface="Bahnschrift Condensed"/>
              </a:defRPr>
            </a:defPPr>
          </a:lstStyle>
          <a:p xmlns:a="http://schemas.openxmlformats.org/drawingml/2006/main">
            <a:pPr>
              <a:defRPr sz="1650">
                <a:solidFill>
                  <a:srgbClr val="D86D38"/>
                </a:solidFill>
                <a:latin typeface="Bahnschrift Condensed"/>
                <a:ea typeface="Bahnschrift Condensed"/>
                <a:cs typeface="Bahnschrift Condensed"/>
              </a:defRPr>
            </a:pPr>
            <a:r>
              <a:rPr sz="1650">
                <a:solidFill>
                  <a:srgbClr val="D86D38"/>
                </a:solidFill>
                <a:latin typeface="Bahnschrift Condensed"/>
                <a:ea typeface="Bahnschrift Condensed"/>
                <a:cs typeface="Bahnschrift Condensed"/>
              </a:rPr>
              <a:t>2026 / NEW STUDENT CUP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EB6E5-79EA-4ED7-A9F6-4710DA5C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6667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850" b="1">
                <a:solidFill>
                  <a:srgbClr val="F2EBDD"/>
                </a:solidFill>
                <a:latin typeface="Bahnschrift Condensed"/>
                <a:ea typeface="Bahnschrift Condensed"/>
                <a:cs typeface="Bahnschrift Condensed"/>
              </a:defRPr>
            </a:defPPr>
          </a:lstStyle>
          <a:p xmlns:a="http://schemas.openxmlformats.org/drawingml/2006/main">
            <a:pPr>
              <a:defRPr sz="8850" b="1">
                <a:solidFill>
                  <a:srgbClr val="F2EBDD"/>
                </a:solidFill>
                <a:latin typeface="Bahnschrift Condensed"/>
                <a:ea typeface="Bahnschrift Condensed"/>
                <a:cs typeface="Bahnschrift Condensed"/>
              </a:defRPr>
            </a:pPr>
            <a:r>
              <a:rPr sz="8850" b="1">
                <a:solidFill>
                  <a:srgbClr val="F2EBDD"/>
                </a:solidFill>
                <a:latin typeface="Bahnschrift Condensed"/>
                <a:ea typeface="Bahnschrift Condensed"/>
                <a:cs typeface="Bahnschrift Condensed"/>
              </a:rPr>
              <a:t>篮下开场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DF4705-A73A-4974-9EDF-782DA6B9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F2EBDD"/>
                </a:solidFill>
                <a:latin typeface="Microsoft YaHei UI"/>
                <a:ea typeface="Microsoft YaHei UI"/>
                <a:cs typeface="Microsoft YaHei U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F2EBD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625" b="1">
                <a:solidFill>
                  <a:srgbClr val="F2EBDD"/>
                </a:solidFill>
                <a:latin typeface="Microsoft YaHei UI"/>
                <a:ea typeface="Microsoft YaHei UI"/>
                <a:cs typeface="Microsoft YaHei UI"/>
              </a:rPr>
              <a:t>计算机学院2026级篮球迎新杯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700B02-AF56-4DCB-ABB1-46853E37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BED3CB"/>
                </a:solidFill>
                <a:latin typeface="Microsoft YaHei UI"/>
                <a:ea typeface="Microsoft YaHei UI"/>
                <a:cs typeface="Microsoft YaHei UI"/>
              </a:defRPr>
            </a:defPPr>
          </a:lstStyle>
          <a:p xmlns:a="http://schemas.openxmlformats.org/drawingml/2006/main">
            <a:pPr>
              <a:defRPr sz="1500">
                <a:solidFill>
                  <a:srgbClr val="BED3C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>
                <a:solidFill>
                  <a:srgbClr val="BED3CB"/>
                </a:solidFill>
                <a:latin typeface="Microsoft YaHei UI"/>
                <a:ea typeface="Microsoft YaHei UI"/>
                <a:cs typeface="Microsoft YaHei UI"/>
              </a:rPr>
              <a:t>2026-11-14  09:00-17:30</a:t>
            </a:r>
          </a:p>
          <a:p xmlns:a="http://schemas.openxmlformats.org/drawingml/2006/main">
            <a:pPr>
              <a:defRPr sz="1500">
                <a:solidFill>
                  <a:srgbClr val="BED3C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>
                <a:solidFill>
                  <a:srgbClr val="BED3CB"/>
                </a:solidFill>
                <a:latin typeface="Microsoft YaHei UI"/>
                <a:ea typeface="Microsoft YaHei UI"/>
                <a:cs typeface="Microsoft YaHei UI"/>
              </a:rPr>
              <a:t>深圳技术大学南区篮球场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CCBB6B-1C2A-418D-A3C3-624E51D6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7200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35B7A0"/>
                </a:solidFill>
                <a:latin typeface="Bahnschrift Condensed"/>
                <a:ea typeface="Bahnschrift Condensed"/>
                <a:cs typeface="Bahnschrift Condense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35B7A0"/>
                </a:solidFill>
                <a:latin typeface="Bahnschrift Condensed"/>
                <a:ea typeface="Bahnschrift Condensed"/>
                <a:cs typeface="Bahnschrift Condensed"/>
              </a:defRPr>
            </a:pPr>
            <a:r>
              <a:rPr sz="3150" b="1">
                <a:solidFill>
                  <a:srgbClr val="35B7A0"/>
                </a:solidFill>
                <a:latin typeface="Bahnschrift Condensed"/>
                <a:ea typeface="Bahnschrift Condensed"/>
                <a:cs typeface="Bahnschrift Condensed"/>
              </a:rPr>
              <a:t>8 支队伍</a:t>
            </a:r>
          </a:p>
          <a:p xmlns:a="http://schemas.openxmlformats.org/drawingml/2006/main">
            <a:pPr>
              <a:defRPr sz="3150" b="1">
                <a:solidFill>
                  <a:srgbClr val="35B7A0"/>
                </a:solidFill>
                <a:latin typeface="Bahnschrift Condensed"/>
                <a:ea typeface="Bahnschrift Condensed"/>
                <a:cs typeface="Bahnschrift Condensed"/>
              </a:defRPr>
            </a:pPr>
            <a:r>
              <a:rPr sz="3150" b="1">
                <a:solidFill>
                  <a:srgbClr val="35B7A0"/>
                </a:solidFill>
                <a:latin typeface="Bahnschrift Condensed"/>
                <a:ea typeface="Bahnschrift Condensed"/>
                <a:cs typeface="Bahnschrift Condensed"/>
              </a:rPr>
              <a:t>120 名新生</a:t>
            </a:r>
          </a:p>
        </p:txBody>
      </p:sp>
    </p:spTree>
    <p:extLst>
      <p:ext uri="{BB962C8B-B14F-4D97-AF65-F5344CB8AC3E}">
        <p14:creationId xmlns:p14="http://schemas.microsoft.com/office/powerpoint/2010/main" val="3056871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A12FD-2DD3-4B27-BBB6-EA0A4329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102A2A"/>
                </a:solidFill>
                <a:latin typeface="Bahnschrift Condensed"/>
                <a:ea typeface="Bahnschrift Condensed"/>
                <a:cs typeface="Bahnschrift Condensed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102A2A"/>
                </a:solidFill>
                <a:latin typeface="Bahnschrift Condensed"/>
                <a:ea typeface="Bahnschrift Condensed"/>
                <a:cs typeface="Bahnschrift Condensed"/>
              </a:defRPr>
            </a:pPr>
            <a:r>
              <a:rPr sz="3675" b="1">
                <a:solidFill>
                  <a:srgbClr val="102A2A"/>
                </a:solidFill>
                <a:latin typeface="Bahnschrift Condensed"/>
                <a:ea typeface="Bahnschrift Condensed"/>
                <a:cs typeface="Bahnschrift Condensed"/>
              </a:rPr>
              <a:t>活动基本信息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E86431-9F55-4CAD-90C9-7738AB160094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668000" cy="3810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8477250"/>
              </a:tblGrid>
              <a:tr h="6350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项目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AD99"/>
                      </a:solidFill>
                      <a:prstDash val="solid"/>
                    </a:lnL>
                    <a:lnR w="9525">
                      <a:solidFill>
                        <a:srgbClr val="B8AD99"/>
                      </a:solidFill>
                      <a:prstDash val="solid"/>
                    </a:lnR>
                    <a:lnT w="9525">
                      <a:solidFill>
                        <a:srgbClr val="B8AD99"/>
                      </a:solidFill>
                      <a:prstDash val="solid"/>
                    </a:lnT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10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内容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AD99"/>
                      </a:solidFill>
                      <a:prstDash val="solid"/>
                    </a:lnR>
                    <a:lnT w="9525">
                      <a:solidFill>
                        <a:srgbClr val="B8AD99"/>
                      </a:solidFill>
                      <a:prstDash val="solid"/>
                    </a:lnT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102A2A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2A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主办方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AD99"/>
                      </a:solidFill>
                      <a:prstDash val="solid"/>
                    </a:lnL>
                    <a:lnR w="9525">
                      <a:solidFill>
                        <a:srgbClr val="B8AD99"/>
                      </a:solidFill>
                      <a:prstDash val="solid"/>
                    </a:lnR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F2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2A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计算机学院学生会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AD99"/>
                      </a:solidFill>
                      <a:prstDash val="solid"/>
                    </a:lnR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F2EBDD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2A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时间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AD99"/>
                      </a:solidFill>
                      <a:prstDash val="solid"/>
                    </a:lnL>
                    <a:lnR w="9525">
                      <a:solidFill>
                        <a:srgbClr val="B8AD99"/>
                      </a:solidFill>
                      <a:prstDash val="solid"/>
                    </a:lnR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E5DD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2A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2026-11-14  09:00-17:30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AD99"/>
                      </a:solidFill>
                      <a:prstDash val="solid"/>
                    </a:lnR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E5DDCC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2A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地点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AD99"/>
                      </a:solidFill>
                      <a:prstDash val="solid"/>
                    </a:lnL>
                    <a:lnR w="9525">
                      <a:solidFill>
                        <a:srgbClr val="B8AD99"/>
                      </a:solidFill>
                      <a:prstDash val="solid"/>
                    </a:lnR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F2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2A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深圳技术大学南区篮球场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AD99"/>
                      </a:solidFill>
                      <a:prstDash val="solid"/>
                    </a:lnR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F2EBDD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2A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规模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AD99"/>
                      </a:solidFill>
                      <a:prstDash val="solid"/>
                    </a:lnL>
                    <a:lnR w="9525">
                      <a:solidFill>
                        <a:srgbClr val="B8AD99"/>
                      </a:solidFill>
                      <a:prstDash val="solid"/>
                    </a:lnR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E5DD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2A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8 支队伍，约 120 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AD99"/>
                      </a:solidFill>
                      <a:prstDash val="solid"/>
                    </a:lnR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E5DDCC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2A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费用目标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AD99"/>
                      </a:solidFill>
                      <a:prstDash val="solid"/>
                    </a:lnL>
                    <a:lnR w="9525">
                      <a:solidFill>
                        <a:srgbClr val="B8AD99"/>
                      </a:solidFill>
                      <a:prstDash val="solid"/>
                    </a:lnR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F2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2A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不超过 ¥30,000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AD99"/>
                      </a:solidFill>
                      <a:prstDash val="solid"/>
                    </a:lnR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F2EBD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19880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3DDF9-5B27-42CF-A4E0-C7B4B855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A2A"/>
                </a:solidFill>
                <a:latin typeface="Bahnschrift Condensed"/>
                <a:ea typeface="Bahnschrift Condensed"/>
                <a:cs typeface="Bahnschrift Condensed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A2A"/>
                </a:solidFill>
                <a:latin typeface="Bahnschrift Condensed"/>
                <a:ea typeface="Bahnschrift Condensed"/>
                <a:cs typeface="Bahnschrift Condensed"/>
              </a:defRPr>
            </a:pPr>
            <a:r>
              <a:rPr sz="3450" b="1">
                <a:solidFill>
                  <a:srgbClr val="102A2A"/>
                </a:solidFill>
                <a:latin typeface="Bahnschrift Condensed"/>
                <a:ea typeface="Bahnschrift Condensed"/>
                <a:cs typeface="Bahnschrift Condensed"/>
              </a:rPr>
              <a:t>一天的比赛节奏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0B9845-C2B2-49E9-9955-2E65CA69D297}"/>
              </a:ext>
            </a:extLst>
          </p:cNvPr>
          <p:cNvGraphicFramePr/>
          <p:nvPr/>
        </p:nvGraphicFramePr>
        <p:xfrm>
          <a:off xmlns:a="http://schemas.openxmlformats.org/drawingml/2006/main" x="609600" y="129540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14500"/>
                <a:gridCol w="7239000"/>
                <a:gridCol w="2019300"/>
              </a:tblGrid>
              <a:tr h="65314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时间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AD99"/>
                      </a:solidFill>
                      <a:prstDash val="solid"/>
                    </a:lnL>
                    <a:lnR w="9525">
                      <a:solidFill>
                        <a:srgbClr val="B8AD99"/>
                      </a:solidFill>
                      <a:prstDash val="solid"/>
                    </a:lnR>
                    <a:lnT w="9525">
                      <a:solidFill>
                        <a:srgbClr val="B8AD99"/>
                      </a:solidFill>
                      <a:prstDash val="solid"/>
                    </a:lnT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10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环节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AD99"/>
                      </a:solidFill>
                      <a:prstDash val="solid"/>
                    </a:lnR>
                    <a:lnT w="9525">
                      <a:solidFill>
                        <a:srgbClr val="B8AD99"/>
                      </a:solidFill>
                      <a:prstDash val="solid"/>
                    </a:lnT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10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负责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AD99"/>
                      </a:solidFill>
                      <a:prstDash val="solid"/>
                    </a:lnR>
                    <a:lnT w="9525">
                      <a:solidFill>
                        <a:srgbClr val="B8AD99"/>
                      </a:solidFill>
                      <a:prstDash val="solid"/>
                    </a:lnT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102A2A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2A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08:00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AD99"/>
                      </a:solidFill>
                      <a:prstDash val="solid"/>
                    </a:lnL>
                    <a:lnR w="9525">
                      <a:solidFill>
                        <a:srgbClr val="B8AD99"/>
                      </a:solidFill>
                      <a:prstDash val="solid"/>
                    </a:lnR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F2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2A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签到与场地布置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AD99"/>
                      </a:solidFill>
                      <a:prstDash val="solid"/>
                    </a:lnR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F2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2A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后勤组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AD99"/>
                      </a:solidFill>
                      <a:prstDash val="solid"/>
                    </a:lnR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F2EBDD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2A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09:00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AD99"/>
                      </a:solidFill>
                      <a:prstDash val="solid"/>
                    </a:lnL>
                    <a:lnR w="9525">
                      <a:solidFill>
                        <a:srgbClr val="B8AD99"/>
                      </a:solidFill>
                      <a:prstDash val="solid"/>
                    </a:lnR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E5DD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2A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开幕式与规则说明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AD99"/>
                      </a:solidFill>
                      <a:prstDash val="solid"/>
                    </a:lnR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E5DD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2A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主持组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AD99"/>
                      </a:solidFill>
                      <a:prstDash val="solid"/>
                    </a:lnR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E5DDCC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2A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09:30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AD99"/>
                      </a:solidFill>
                      <a:prstDash val="solid"/>
                    </a:lnL>
                    <a:lnR w="9525">
                      <a:solidFill>
                        <a:srgbClr val="B8AD99"/>
                      </a:solidFill>
                      <a:prstDash val="solid"/>
                    </a:lnR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F2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2A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小组循环赛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AD99"/>
                      </a:solidFill>
                      <a:prstDash val="solid"/>
                    </a:lnR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F2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2A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竞赛组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AD99"/>
                      </a:solidFill>
                      <a:prstDash val="solid"/>
                    </a:lnR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F2EBDD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2A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13:30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AD99"/>
                      </a:solidFill>
                      <a:prstDash val="solid"/>
                    </a:lnL>
                    <a:lnR w="9525">
                      <a:solidFill>
                        <a:srgbClr val="B8AD99"/>
                      </a:solidFill>
                      <a:prstDash val="solid"/>
                    </a:lnR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E5DD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2A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半决赛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AD99"/>
                      </a:solidFill>
                      <a:prstDash val="solid"/>
                    </a:lnR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E5DD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2A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竞赛组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AD99"/>
                      </a:solidFill>
                      <a:prstDash val="solid"/>
                    </a:lnR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E5DDCC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2A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15:30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AD99"/>
                      </a:solidFill>
                      <a:prstDash val="solid"/>
                    </a:lnL>
                    <a:lnR w="9525">
                      <a:solidFill>
                        <a:srgbClr val="B8AD99"/>
                      </a:solidFill>
                      <a:prstDash val="solid"/>
                    </a:lnR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F2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2A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决赛与季军赛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AD99"/>
                      </a:solidFill>
                      <a:prstDash val="solid"/>
                    </a:lnR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F2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2A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竞赛组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AD99"/>
                      </a:solidFill>
                      <a:prstDash val="solid"/>
                    </a:lnR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F2EBDD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2A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16:30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AD99"/>
                      </a:solidFill>
                      <a:prstDash val="solid"/>
                    </a:lnL>
                    <a:lnR w="9525">
                      <a:solidFill>
                        <a:srgbClr val="B8AD99"/>
                      </a:solidFill>
                      <a:prstDash val="solid"/>
                    </a:lnR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E5DD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2A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颁奖、合影与撤场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AD99"/>
                      </a:solidFill>
                      <a:prstDash val="solid"/>
                    </a:lnR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E5DD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2A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宣传组 / 后勤组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AD99"/>
                      </a:solidFill>
                      <a:prstDash val="solid"/>
                    </a:lnR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E5DDC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6234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35B7A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A6C908-724C-4BB2-90E9-A656F083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A2A"/>
                </a:solidFill>
                <a:latin typeface="Bahnschrift Condensed"/>
                <a:ea typeface="Bahnschrift Condensed"/>
                <a:cs typeface="Bahnschrift Condensed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A2A"/>
                </a:solidFill>
                <a:latin typeface="Bahnschrift Condensed"/>
                <a:ea typeface="Bahnschrift Condensed"/>
                <a:cs typeface="Bahnschrift Condensed"/>
              </a:defRPr>
            </a:pPr>
            <a:r>
              <a:rPr sz="3450" b="1">
                <a:solidFill>
                  <a:srgbClr val="102A2A"/>
                </a:solidFill>
                <a:latin typeface="Bahnschrift Condensed"/>
                <a:ea typeface="Bahnschrift Condensed"/>
                <a:cs typeface="Bahnschrift Condensed"/>
              </a:rPr>
              <a:t>赛制与观赛看点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7A02AF-610C-4182-83B3-EA5DDD42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102A2A"/>
                </a:solidFill>
                <a:latin typeface="Bahnschrift Condensed"/>
                <a:ea typeface="Bahnschrift Condensed"/>
                <a:cs typeface="Bahnschrift Condensed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102A2A"/>
                </a:solidFill>
                <a:latin typeface="Bahnschrift Condensed"/>
                <a:ea typeface="Bahnschrift Condensed"/>
                <a:cs typeface="Bahnschrift Condensed"/>
              </a:defRPr>
            </a:pPr>
            <a:r>
              <a:rPr sz="4500" b="1">
                <a:solidFill>
                  <a:srgbClr val="102A2A"/>
                </a:solidFill>
                <a:latin typeface="Bahnschrift Condensed"/>
                <a:ea typeface="Bahnschrift Condensed"/>
                <a:cs typeface="Bahnschrift Condensed"/>
              </a:rPr>
              <a:t>A 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CB047C-49CE-4125-825D-BCFD254A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102A2A"/>
                </a:solidFill>
                <a:latin typeface="Microsoft YaHei UI"/>
                <a:ea typeface="Microsoft YaHei UI"/>
                <a:cs typeface="Microsoft YaHei UI"/>
              </a:defRPr>
            </a:defPPr>
          </a:lstStyle>
          <a:p xmlns:a="http://schemas.openxmlformats.org/drawingml/2006/main">
            <a:pPr>
              <a:defRPr sz="1800">
                <a:solidFill>
                  <a:srgbClr val="102A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>
                <a:solidFill>
                  <a:srgbClr val="102A2A"/>
                </a:solidFill>
                <a:latin typeface="Microsoft YaHei UI"/>
                <a:ea typeface="Microsoft YaHei UI"/>
                <a:cs typeface="Microsoft YaHei UI"/>
              </a:rPr>
              <a:t>4 支队伍</a:t>
            </a:r>
          </a:p>
          <a:p xmlns:a="http://schemas.openxmlformats.org/drawingml/2006/main">
            <a:pPr>
              <a:defRPr sz="1800">
                <a:solidFill>
                  <a:srgbClr val="102A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>
                <a:solidFill>
                  <a:srgbClr val="102A2A"/>
                </a:solidFill>
                <a:latin typeface="Microsoft YaHei UI"/>
                <a:ea typeface="Microsoft YaHei UI"/>
                <a:cs typeface="Microsoft YaHei UI"/>
              </a:rPr>
              <a:t>单循环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568BE8-AB9A-4E35-924B-0C02688F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7335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102A2A"/>
                </a:solidFill>
                <a:latin typeface="Bahnschrift Condensed"/>
                <a:ea typeface="Bahnschrift Condensed"/>
                <a:cs typeface="Bahnschrift Condensed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102A2A"/>
                </a:solidFill>
                <a:latin typeface="Bahnschrift Condensed"/>
                <a:ea typeface="Bahnschrift Condensed"/>
                <a:cs typeface="Bahnschrift Condensed"/>
              </a:defRPr>
            </a:pPr>
            <a:r>
              <a:rPr sz="4500" b="1">
                <a:solidFill>
                  <a:srgbClr val="102A2A"/>
                </a:solidFill>
                <a:latin typeface="Bahnschrift Condensed"/>
                <a:ea typeface="Bahnschrift Condensed"/>
                <a:cs typeface="Bahnschrift Condensed"/>
              </a:rPr>
              <a:t>B 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078DCD-7631-4086-8EB3-4808E6E4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9555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102A2A"/>
                </a:solidFill>
                <a:latin typeface="Microsoft YaHei UI"/>
                <a:ea typeface="Microsoft YaHei UI"/>
                <a:cs typeface="Microsoft YaHei UI"/>
              </a:defRPr>
            </a:defPPr>
          </a:lstStyle>
          <a:p xmlns:a="http://schemas.openxmlformats.org/drawingml/2006/main">
            <a:pPr>
              <a:defRPr sz="1800">
                <a:solidFill>
                  <a:srgbClr val="102A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>
                <a:solidFill>
                  <a:srgbClr val="102A2A"/>
                </a:solidFill>
                <a:latin typeface="Microsoft YaHei UI"/>
                <a:ea typeface="Microsoft YaHei UI"/>
                <a:cs typeface="Microsoft YaHei UI"/>
              </a:rPr>
              <a:t>4 支队伍</a:t>
            </a:r>
          </a:p>
          <a:p xmlns:a="http://schemas.openxmlformats.org/drawingml/2006/main">
            <a:pPr>
              <a:defRPr sz="1800">
                <a:solidFill>
                  <a:srgbClr val="102A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>
                <a:solidFill>
                  <a:srgbClr val="102A2A"/>
                </a:solidFill>
                <a:latin typeface="Microsoft YaHei UI"/>
                <a:ea typeface="Microsoft YaHei UI"/>
                <a:cs typeface="Microsoft YaHei UI"/>
              </a:rPr>
              <a:t>单循环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FBF95-BAA0-451D-9165-2BCC7F91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7335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102A2A"/>
                </a:solidFill>
                <a:latin typeface="Bahnschrift Condensed"/>
                <a:ea typeface="Bahnschrift Condensed"/>
                <a:cs typeface="Bahnschrift Condensed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102A2A"/>
                </a:solidFill>
                <a:latin typeface="Bahnschrift Condensed"/>
                <a:ea typeface="Bahnschrift Condensed"/>
                <a:cs typeface="Bahnschrift Condensed"/>
              </a:defRPr>
            </a:pPr>
            <a:r>
              <a:rPr sz="4500" b="1">
                <a:solidFill>
                  <a:srgbClr val="102A2A"/>
                </a:solidFill>
                <a:latin typeface="Bahnschrift Condensed"/>
                <a:ea typeface="Bahnschrift Condensed"/>
                <a:cs typeface="Bahnschrift Condensed"/>
              </a:rPr>
              <a:t>半决赛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71C15B-176F-4379-BC23-245FE74E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9555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102A2A"/>
                </a:solidFill>
                <a:latin typeface="Microsoft YaHei UI"/>
                <a:ea typeface="Microsoft YaHei UI"/>
                <a:cs typeface="Microsoft YaHei UI"/>
              </a:defRPr>
            </a:defPPr>
          </a:lstStyle>
          <a:p xmlns:a="http://schemas.openxmlformats.org/drawingml/2006/main">
            <a:pPr>
              <a:defRPr sz="1800">
                <a:solidFill>
                  <a:srgbClr val="102A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>
                <a:solidFill>
                  <a:srgbClr val="102A2A"/>
                </a:solidFill>
                <a:latin typeface="Microsoft YaHei UI"/>
                <a:ea typeface="Microsoft YaHei UI"/>
                <a:cs typeface="Microsoft YaHei UI"/>
              </a:rPr>
              <a:t>A1-B2</a:t>
            </a:r>
          </a:p>
          <a:p xmlns:a="http://schemas.openxmlformats.org/drawingml/2006/main">
            <a:pPr>
              <a:defRPr sz="1800">
                <a:solidFill>
                  <a:srgbClr val="102A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>
                <a:solidFill>
                  <a:srgbClr val="102A2A"/>
                </a:solidFill>
                <a:latin typeface="Microsoft YaHei UI"/>
                <a:ea typeface="Microsoft YaHei UI"/>
                <a:cs typeface="Microsoft YaHei UI"/>
              </a:rPr>
              <a:t>B1-A2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459AA-F6F3-4E35-B83E-DE90D272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A2A"/>
                </a:solidFill>
                <a:latin typeface="Microsoft YaHei UI"/>
                <a:ea typeface="Microsoft YaHei UI"/>
                <a:cs typeface="Microsoft YaHei U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02A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02A2A"/>
                </a:solidFill>
                <a:latin typeface="Microsoft YaHei UI"/>
                <a:ea typeface="Microsoft YaHei UI"/>
                <a:cs typeface="Microsoft YaHei UI"/>
              </a:rPr>
              <a:t>小组前两名晋级。决赛与季军赛在下午连续进行，现场设置双人记录台处理比分与判罚争议。</a:t>
            </a:r>
          </a:p>
        </p:txBody>
      </p:sp>
    </p:spTree>
    <p:extLst>
      <p:ext uri="{BB962C8B-B14F-4D97-AF65-F5344CB8AC3E}">
        <p14:creationId xmlns:p14="http://schemas.microsoft.com/office/powerpoint/2010/main" val="6359451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3DC8A-D2B1-44F7-9482-DB46343A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A2A"/>
                </a:solidFill>
                <a:latin typeface="Bahnschrift Condensed"/>
                <a:ea typeface="Bahnschrift Condensed"/>
                <a:cs typeface="Bahnschrift Condensed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A2A"/>
                </a:solidFill>
                <a:latin typeface="Bahnschrift Condensed"/>
                <a:ea typeface="Bahnschrift Condensed"/>
                <a:cs typeface="Bahnschrift Condensed"/>
              </a:defRPr>
            </a:pPr>
            <a:r>
              <a:rPr sz="3450" b="1">
                <a:solidFill>
                  <a:srgbClr val="102A2A"/>
                </a:solidFill>
                <a:latin typeface="Bahnschrift Condensed"/>
                <a:ea typeface="Bahnschrift Condensed"/>
                <a:cs typeface="Bahnschrift Condensed"/>
              </a:rPr>
              <a:t>宣传节奏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D73CB-45B1-40AC-94F9-A86825AA7856}"/>
              </a:ext>
            </a:extLst>
          </p:cNvPr>
          <p:cNvGraphicFramePr/>
          <p:nvPr/>
        </p:nvGraphicFramePr>
        <p:xfrm>
          <a:off xmlns:a="http://schemas.openxmlformats.org/drawingml/2006/main" x="609600" y="1314450"/>
          <a:ext xmlns:a="http://schemas.openxmlformats.org/drawingml/2006/main" cx="10953750" cy="3857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33625"/>
                <a:gridCol w="2667000"/>
                <a:gridCol w="5953125"/>
              </a:tblGrid>
              <a:tr h="7715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时间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AD99"/>
                      </a:solidFill>
                      <a:prstDash val="solid"/>
                    </a:lnL>
                    <a:lnR w="9525">
                      <a:solidFill>
                        <a:srgbClr val="B8AD99"/>
                      </a:solidFill>
                      <a:prstDash val="solid"/>
                    </a:lnR>
                    <a:lnT w="9525">
                      <a:solidFill>
                        <a:srgbClr val="B8AD99"/>
                      </a:solidFill>
                      <a:prstDash val="solid"/>
                    </a:lnT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10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渠道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AD99"/>
                      </a:solidFill>
                      <a:prstDash val="solid"/>
                    </a:lnR>
                    <a:lnT w="9525">
                      <a:solidFill>
                        <a:srgbClr val="B8AD99"/>
                      </a:solidFill>
                      <a:prstDash val="solid"/>
                    </a:lnT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10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内容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AD99"/>
                      </a:solidFill>
                      <a:prstDash val="solid"/>
                    </a:lnR>
                    <a:lnT w="9525">
                      <a:solidFill>
                        <a:srgbClr val="B8AD99"/>
                      </a:solidFill>
                      <a:prstDash val="solid"/>
                    </a:lnT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102A2A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2A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活动前 14 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AD99"/>
                      </a:solidFill>
                      <a:prstDash val="solid"/>
                    </a:lnL>
                    <a:lnR w="9525">
                      <a:solidFill>
                        <a:srgbClr val="B8AD99"/>
                      </a:solidFill>
                      <a:prstDash val="solid"/>
                    </a:lnR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F2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2A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学院公众号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AD99"/>
                      </a:solidFill>
                      <a:prstDash val="solid"/>
                    </a:lnR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F2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2A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发布报名规则和队伍召集信息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AD99"/>
                      </a:solidFill>
                      <a:prstDash val="solid"/>
                    </a:lnR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F2EBDD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2A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活动前 7 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AD99"/>
                      </a:solidFill>
                      <a:prstDash val="solid"/>
                    </a:lnL>
                    <a:lnR w="9525">
                      <a:solidFill>
                        <a:srgbClr val="B8AD99"/>
                      </a:solidFill>
                      <a:prstDash val="solid"/>
                    </a:lnR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E5DD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2A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班级群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AD99"/>
                      </a:solidFill>
                      <a:prstDash val="solid"/>
                    </a:lnR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E5DD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2A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公布赛程、场地地图和观赛提醒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AD99"/>
                      </a:solidFill>
                      <a:prstDash val="solid"/>
                    </a:lnR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E5DDCC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2A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活动前 1 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AD99"/>
                      </a:solidFill>
                      <a:prstDash val="solid"/>
                    </a:lnL>
                    <a:lnR w="9525">
                      <a:solidFill>
                        <a:srgbClr val="B8AD99"/>
                      </a:solidFill>
                      <a:prstDash val="solid"/>
                    </a:lnR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F2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2A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公众号与班级群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AD99"/>
                      </a:solidFill>
                      <a:prstDash val="solid"/>
                    </a:lnR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F2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2A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确认签到时间、天气和装备要求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AD99"/>
                      </a:solidFill>
                      <a:prstDash val="solid"/>
                    </a:lnR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F2EBDD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2A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活动当天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AD99"/>
                      </a:solidFill>
                      <a:prstDash val="solid"/>
                    </a:lnL>
                    <a:lnR w="9525">
                      <a:solidFill>
                        <a:srgbClr val="B8AD99"/>
                      </a:solidFill>
                      <a:prstDash val="solid"/>
                    </a:lnR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E5DD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2A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现场摄影与公众号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AD99"/>
                      </a:solidFill>
                      <a:prstDash val="solid"/>
                    </a:lnR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E5DD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2A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发布赛果、照片和志愿者致谢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AD99"/>
                      </a:solidFill>
                      <a:prstDash val="solid"/>
                    </a:lnR>
                    <a:lnB w="9525">
                      <a:solidFill>
                        <a:srgbClr val="B8AD99"/>
                      </a:solidFill>
                      <a:prstDash val="solid"/>
                    </a:lnB>
                    <a:solidFill>
                      <a:srgbClr val="E5DDC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2527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A63BB-BCBC-4E5A-9CBF-68674887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334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650" b="1">
                <a:solidFill>
                  <a:srgbClr val="D86D38"/>
                </a:solidFill>
                <a:latin typeface="Bahnschrift Condensed"/>
                <a:ea typeface="Bahnschrift Condensed"/>
                <a:cs typeface="Bahnschrift Condensed"/>
              </a:defRPr>
            </a:defPPr>
          </a:lstStyle>
          <a:p xmlns:a="http://schemas.openxmlformats.org/drawingml/2006/main">
            <a:pPr>
              <a:defRPr sz="10650" b="1">
                <a:solidFill>
                  <a:srgbClr val="D86D38"/>
                </a:solidFill>
                <a:latin typeface="Bahnschrift Condensed"/>
                <a:ea typeface="Bahnschrift Condensed"/>
                <a:cs typeface="Bahnschrift Condensed"/>
              </a:defRPr>
            </a:pPr>
            <a:r>
              <a:rPr sz="10650" b="1">
                <a:solidFill>
                  <a:srgbClr val="D86D38"/>
                </a:solidFill>
                <a:latin typeface="Bahnschrift Condensed"/>
                <a:ea typeface="Bahnschrift Condensed"/>
                <a:cs typeface="Bahnschrift Condensed"/>
              </a:rPr>
              <a:t>11.14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C8541-F3EF-482B-9B66-4CFDD95A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F2EBDD"/>
                </a:solidFill>
                <a:latin typeface="Microsoft YaHei UI"/>
                <a:ea typeface="Microsoft YaHei UI"/>
                <a:cs typeface="Microsoft YaHei UI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F2EBD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050" b="1">
                <a:solidFill>
                  <a:srgbClr val="F2EBDD"/>
                </a:solidFill>
                <a:latin typeface="Microsoft YaHei UI"/>
                <a:ea typeface="Microsoft YaHei UI"/>
                <a:cs typeface="Microsoft YaHei UI"/>
              </a:rPr>
              <a:t>南区篮球场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C5AE7-22B4-4817-A922-4E51012B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35B7A0"/>
                </a:solidFill>
                <a:latin typeface="Microsoft YaHei UI"/>
                <a:ea typeface="Microsoft YaHei UI"/>
                <a:cs typeface="Microsoft YaHei U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5B7A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35B7A0"/>
                </a:solidFill>
                <a:latin typeface="Microsoft YaHei UI"/>
                <a:ea typeface="Microsoft YaHei UI"/>
                <a:cs typeface="Microsoft YaHei UI"/>
              </a:rPr>
              <a:t>新生第一场，从并肩开始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7319F6-490E-45B0-A44E-05DA1663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3619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F2EBDD"/>
                </a:solidFill>
                <a:latin typeface="Microsoft YaHei UI"/>
                <a:ea typeface="Microsoft YaHei UI"/>
                <a:cs typeface="Microsoft YaHei UI"/>
              </a:defRPr>
            </a:defPPr>
          </a:lstStyle>
          <a:p xmlns:a="http://schemas.openxmlformats.org/drawingml/2006/main">
            <a:pPr>
              <a:defRPr sz="1800">
                <a:solidFill>
                  <a:srgbClr val="F2EBD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>
                <a:solidFill>
                  <a:srgbClr val="F2EBDD"/>
                </a:solidFill>
                <a:latin typeface="Microsoft YaHei UI"/>
                <a:ea typeface="Microsoft YaHei UI"/>
                <a:cs typeface="Microsoft YaHei UI"/>
              </a:rPr>
              <a:t>报名请联系班级文体委员</a:t>
            </a:r>
          </a:p>
          <a:p xmlns:a="http://schemas.openxmlformats.org/drawingml/2006/main">
            <a:pPr>
              <a:defRPr sz="1800">
                <a:solidFill>
                  <a:srgbClr val="F2EBD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>
                <a:solidFill>
                  <a:srgbClr val="F2EBDD"/>
                </a:solidFill>
                <a:latin typeface="Microsoft YaHei UI"/>
                <a:ea typeface="Microsoft YaHei UI"/>
                <a:cs typeface="Microsoft YaHei UI"/>
              </a:rPr>
              <a:t>每队 10 名球员，另设替补名额</a:t>
            </a:r>
          </a:p>
        </p:txBody>
      </p:sp>
    </p:spTree>
    <p:extLst>
      <p:ext uri="{BB962C8B-B14F-4D97-AF65-F5344CB8AC3E}">
        <p14:creationId xmlns:p14="http://schemas.microsoft.com/office/powerpoint/2010/main" val="179339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 UI"/>
        <a:ea typeface=""/>
        <a:cs typeface=""/>
      </a:majorFont>
      <a:minorFont>
        <a:latin typeface="Microsoft YaHei U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2026-10-27T12:03:28.8820000Z</dcterms:created>
  <dcterms:modified xsi:type="dcterms:W3CDTF">2026-10-27T12:03:28.8820000Z</dcterms:modified>
</coreProperties>
</file>